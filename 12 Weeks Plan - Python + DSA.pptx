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3" r:id="rId4"/>
    <p:sldId id="267" r:id="rId5"/>
    <p:sldId id="271" r:id="rId6"/>
    <p:sldId id="272" r:id="rId7"/>
    <p:sldId id="265" r:id="rId8"/>
    <p:sldId id="258" r:id="rId9"/>
    <p:sldId id="264" r:id="rId10"/>
    <p:sldId id="266" r:id="rId11"/>
    <p:sldId id="262" r:id="rId12"/>
    <p:sldId id="263" r:id="rId13"/>
    <p:sldId id="275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FE7A-BA46-6627-B116-FA37AA6D9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4AAA2-7151-CBEB-4DE2-C8C340272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D3687-05AF-9F70-C9B9-8353D43CD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A1881-406B-2AF2-4576-34EF9F7D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CD1EF-7BF6-F1B0-9587-10A98527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8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6072-B5FA-C3F6-F780-A80098AD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4693"/>
          </a:xfrm>
          <a:solidFill>
            <a:schemeClr val="accent1">
              <a:lumMod val="50000"/>
            </a:schemeClr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5187B-883A-49B6-D5CB-F000036C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18" y="820737"/>
            <a:ext cx="11612417" cy="54138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2E6D1-C236-95AB-C9CE-B428B39C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BFB6C-5041-04F7-587B-E2B750CA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CD6BF-7AD0-94D3-0C39-82CBF242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5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502D-198C-DFD2-E2E9-FDA5EFB5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2F056-E317-4C2F-66FE-3A89A3AB9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83916-1BB7-BF92-9E04-FDB04DD7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D3005-7893-1786-9B99-20CCC0F8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2DAA8-D931-11AE-808D-C1232911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0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AC3E5-A023-64B9-2892-74AC7376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0FB49-691D-9091-FA22-9D1136800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3B66C-999C-B07E-FA34-47462568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B9B1D-BE1F-C5ED-DE3B-51B0D9A9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A46E4-FAE0-64F9-1589-FED6D39F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6145E-67E8-9693-1BEB-72457F2A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5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54E9-C4D8-3BEC-CE56-68539E4CF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AE7B-8FED-7BAF-7054-8D8184102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F98FA-9FD5-4817-B157-8E674B6A9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DE057-3E6F-C7EC-8ABB-11E3FB7AE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41726-3887-0EB4-D881-8658A3F16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7057D-C612-7D5F-A04A-4329844B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9AF7C-7F30-6C87-277F-03A367B8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423B2-8D41-CAE4-5521-85F67DAA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4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C1FA2-DA9D-21FE-2E10-E6505341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864A1-0BEE-0623-E24F-B4F23BEA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B5A3B-B92D-319C-E1F6-3A39CAEF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70DA1-5AC7-24FE-8A80-75A46067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1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4B9D2-07C6-431B-0B19-BD1DBD63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DA7E3-CDC1-E287-6D6C-963C78D7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F1A38-AEFC-F0B0-0568-CF86E19E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8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4AC9-68C0-B094-2470-24AFBC2D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F9CD-470E-043A-0CF6-C6CFBAB5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59B55-8594-2CC0-25F7-1EFF4AC53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6B896-8FA0-3A90-3E7B-384AAD690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D520E-3277-204F-4A37-0905F9F1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AA41A-B1BA-8B73-9B32-737E0AAB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4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B341-BCBD-4AC1-8D0F-AF429CAF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BA896-98D7-C79B-9330-953EB366EA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77848-CBF5-2627-8C27-124AA41C8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FED7E-26C7-64CC-CA39-D61AE02F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08017-5748-7BB6-F12C-855CEC01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16548-46F8-1BFE-4B25-D879F812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9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2833-A47F-5951-37E1-D1ED1733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2A5DC-1148-191C-A727-B3188EA9C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B85B-0F17-A772-9EF3-CF2FAE71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65140-AF83-6EF4-D393-02AB2BD4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DDBF-B55F-E3B3-A0A7-BA770620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0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D5FEBF-6BBE-96C4-7ABE-9553848B8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95DF3-BFCE-75ED-D91A-5739D0492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2F22A-B2D8-8919-24AC-BE4E72E8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F60EA-EBB6-C178-1BAC-85F7A4F7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BE3FA-362A-06CF-1FC6-51AF3AE9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8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7F6729-0BF6-A137-214E-9A4981DD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7134B-23CB-6750-8FD0-F2AD4D9B9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83451-9C8B-0098-D62E-93BEA6F29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DEDE1-49DD-4345-9336-B7C38A36C31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8AE71-027D-66E5-B6A1-D2B9E75C7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33B6-89B2-B972-117B-DD5EC25B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A808C-F22E-4A0C-BAF1-C1919C15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2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tutorial/?utm_source=chatgpt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erearth.com/practice/data-structures" TargetMode="External"/><Relationship Id="rId2" Type="http://schemas.openxmlformats.org/officeDocument/2006/relationships/hyperlink" Target="https://www.hackerearth.com/practice/basic-programming/complexity-analysis/time-and-space-complexity/tutori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sualgo.net/en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ckerearth.com/practice/data-structure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Document1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D476-23BE-42E8-B239-2DDF15A85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+ DSA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5EC6A-72EC-18F8-6FB4-B81997BD0D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Refresher Learning Plan</a:t>
            </a:r>
          </a:p>
        </p:txBody>
      </p:sp>
    </p:spTree>
    <p:extLst>
      <p:ext uri="{BB962C8B-B14F-4D97-AF65-F5344CB8AC3E}">
        <p14:creationId xmlns:p14="http://schemas.microsoft.com/office/powerpoint/2010/main" val="337892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FA31-1A26-A1F7-93CC-CE1CE2D0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 of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28DE7-8931-11F1-836B-D095A3708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Self-Paced Learning with focus on hands-on</a:t>
            </a:r>
          </a:p>
          <a:p>
            <a:r>
              <a:rPr lang="en-US" dirty="0"/>
              <a:t>Focus on concepts and activities</a:t>
            </a:r>
          </a:p>
          <a:p>
            <a:r>
              <a:rPr lang="en-US" dirty="0"/>
              <a:t>Daily spend 3 Hours on Python Coding and 3 Hours on DSA</a:t>
            </a:r>
          </a:p>
          <a:p>
            <a:r>
              <a:rPr lang="en-US" dirty="0"/>
              <a:t>Daily updates, reporting Issue Raising</a:t>
            </a:r>
          </a:p>
          <a:p>
            <a:r>
              <a:rPr lang="en-US" dirty="0"/>
              <a:t>Weekly technical review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84420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18E05-30A7-C8BE-7FA0-D60C8024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534F-8666-3A2A-7640-0AFE1139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459101"/>
            <a:ext cx="10515600" cy="1325563"/>
          </a:xfrm>
        </p:spPr>
        <p:txBody>
          <a:bodyPr/>
          <a:lstStyle/>
          <a:p>
            <a:r>
              <a:rPr lang="en-US" dirty="0"/>
              <a:t>12 Weeks Plan</a:t>
            </a:r>
          </a:p>
        </p:txBody>
      </p:sp>
    </p:spTree>
    <p:extLst>
      <p:ext uri="{BB962C8B-B14F-4D97-AF65-F5344CB8AC3E}">
        <p14:creationId xmlns:p14="http://schemas.microsoft.com/office/powerpoint/2010/main" val="81783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8914-39E8-BA6F-A5BF-1113D747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Overall Plan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464B22FD-A7E8-6A8E-953B-73C05F02FF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5328851"/>
              </p:ext>
            </p:extLst>
          </p:nvPr>
        </p:nvGraphicFramePr>
        <p:xfrm>
          <a:off x="995671" y="1514764"/>
          <a:ext cx="10358130" cy="4556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2897">
                  <a:extLst>
                    <a:ext uri="{9D8B030D-6E8A-4147-A177-3AD203B41FA5}">
                      <a16:colId xmlns:a16="http://schemas.microsoft.com/office/drawing/2014/main" val="2894921235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4289590436"/>
                    </a:ext>
                  </a:extLst>
                </a:gridCol>
                <a:gridCol w="4376929">
                  <a:extLst>
                    <a:ext uri="{9D8B030D-6E8A-4147-A177-3AD203B41FA5}">
                      <a16:colId xmlns:a16="http://schemas.microsoft.com/office/drawing/2014/main" val="267362249"/>
                    </a:ext>
                  </a:extLst>
                </a:gridCol>
              </a:tblGrid>
              <a:tr h="459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Week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Python Proficiency / Application Development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 Structures &amp; Algorithms (DSA)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323140"/>
                  </a:ext>
                </a:extLst>
              </a:tr>
              <a:tr h="1130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Week 1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Python Fundamentals</a:t>
                      </a:r>
                      <a:r>
                        <a:rPr lang="en-US" sz="1600" dirty="0"/>
                        <a:t>, Data Types, Variables, Operators, Control Flow, Loops, Functions, Strings, Lists, Tuples, Dictionaries, Sets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Big-O Notation, Time &amp; Space Complexity, Arrays, Strings, Hashing, Linked Lists, Stacks, Queues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988098"/>
                  </a:ext>
                </a:extLst>
              </a:tr>
              <a:tr h="1130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Week 2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Advanced Python Fundamentals</a:t>
                      </a:r>
                      <a:r>
                        <a:rPr lang="en-US" sz="1600" dirty="0"/>
                        <a:t>, Comprehensions, Iterators, Generators, Scope, Lambdas, OOP, Modules, Packages, Exceptions, Virtual Environments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Searching, Binary Search, Sorting, Recursion, Divide and Conquer, Trees, Heaps, Graphs, BFS, DFS, Greedy Algorithms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842450"/>
                  </a:ext>
                </a:extLst>
              </a:tr>
              <a:tr h="918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Week 3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Python Coding Fluency, </a:t>
                      </a:r>
                      <a:r>
                        <a:rPr lang="en-US" sz="1600" dirty="0"/>
                        <a:t>Functions, Collection Processing, String Manipulation, Classes, Input Validation, Debugging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Hashing, Frequency Counting, Two Pointers, Sliding Window, Prefix Sums, Binary Search, Sorting + Two Pointers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43279"/>
                  </a:ext>
                </a:extLst>
              </a:tr>
              <a:tr h="918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Week 4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Practical Python Programming</a:t>
                      </a:r>
                      <a:r>
                        <a:rPr lang="en-US" sz="1600" dirty="0"/>
                        <a:t>, Modular Design, OOP Exercises, File Handling, JSON, Exceptions, Unit Testing, Refactoring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Problem-Solving Framework, Brute Force, Bottleneck Analysis, Pattern Recognition, Algorithm Design, Complexity Analysis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2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51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F1DB2-5B7C-A9EF-031D-F2EBEBBD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1CAA-8B9B-86AC-8016-A16D4089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Overall Plan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20E953C9-CEF2-FEE3-47D8-6DB5776574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371365"/>
              </p:ext>
            </p:extLst>
          </p:nvPr>
        </p:nvGraphicFramePr>
        <p:xfrm>
          <a:off x="995671" y="1479548"/>
          <a:ext cx="10358130" cy="4997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2897">
                  <a:extLst>
                    <a:ext uri="{9D8B030D-6E8A-4147-A177-3AD203B41FA5}">
                      <a16:colId xmlns:a16="http://schemas.microsoft.com/office/drawing/2014/main" val="2894921235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4289590436"/>
                    </a:ext>
                  </a:extLst>
                </a:gridCol>
                <a:gridCol w="4376929">
                  <a:extLst>
                    <a:ext uri="{9D8B030D-6E8A-4147-A177-3AD203B41FA5}">
                      <a16:colId xmlns:a16="http://schemas.microsoft.com/office/drawing/2014/main" val="267362249"/>
                    </a:ext>
                  </a:extLst>
                </a:gridCol>
              </a:tblGrid>
              <a:tr h="494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Week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Python Proficiency / Application Development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 Structures &amp; Algorithms (DSA)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323140"/>
                  </a:ext>
                </a:extLst>
              </a:tr>
              <a:tr h="1130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5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</a:t>
                      </a:r>
                      <a:r>
                        <a:rPr lang="en-US" sz="1800" dirty="0"/>
                        <a:t> Requirements Analysis, Use Cases, Business Rules, Domain Modelling, Entities, Relationships, ER Diagrams, Relational Database Design, SQL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Arrays, Strings, Hashing, Prefix Sum + HashMap, Two Pointers, Sliding Window, Subarray Problems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988098"/>
                  </a:ext>
                </a:extLst>
              </a:tr>
              <a:tr h="1130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6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 </a:t>
                      </a:r>
                      <a:r>
                        <a:rPr lang="en-US" sz="1800" dirty="0" err="1"/>
                        <a:t>FastAPI</a:t>
                      </a:r>
                      <a:r>
                        <a:rPr lang="en-US" sz="1800" dirty="0"/>
                        <a:t>, REST APIs, HTTP Methods, </a:t>
                      </a:r>
                      <a:r>
                        <a:rPr lang="en-US" sz="1800" dirty="0" err="1"/>
                        <a:t>Pydantic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SQLAlchemy</a:t>
                      </a:r>
                      <a:r>
                        <a:rPr lang="en-US" sz="1800" dirty="0"/>
                        <a:t>, PostgreSQL, Alembic, Database Connectivity, </a:t>
                      </a:r>
                      <a:r>
                        <a:rPr lang="en-US" sz="1800" dirty="0" err="1"/>
                        <a:t>pytest</a:t>
                      </a:r>
                      <a:endParaRPr lang="en-US" sz="1800" dirty="0"/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Binary Search Variations, Binary Search on Answer, Sorting, Intervals, Stacks, Monotonic Stacks, Queues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842450"/>
                  </a:ext>
                </a:extLst>
              </a:tr>
              <a:tr h="918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7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 </a:t>
                      </a:r>
                      <a:r>
                        <a:rPr lang="en-US" sz="1800" dirty="0"/>
                        <a:t>Application Core Workflows, Customers, Care Recipients, Caregivers, Service Requests, CRUD, Service Layer, Validation, Repository Pattern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Linked Lists, Fast and Slow Pointers, Recursion, Tree Traversals, DFS, BFS, Memoization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43279"/>
                  </a:ext>
                </a:extLst>
              </a:tr>
              <a:tr h="918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8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 </a:t>
                      </a:r>
                      <a:r>
                        <a:rPr lang="en-US" sz="1800" dirty="0"/>
                        <a:t>Appointment Management, Caregiver Assignment, Availability Validation, Scheduling Conflicts, Database Transactions, Integration Testing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Trees, Graph Traversal, Connected Components, Heaps, Priority Queues, Top-K Problems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2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44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85F54-3BE3-38F9-F0AE-31E9F014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D00A-5311-DA7D-28CE-D727BAB6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Overall Plan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9BE3866-174D-0331-65B4-EB5BF89F99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7213633"/>
              </p:ext>
            </p:extLst>
          </p:nvPr>
        </p:nvGraphicFramePr>
        <p:xfrm>
          <a:off x="995671" y="1479548"/>
          <a:ext cx="10358130" cy="4997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2897">
                  <a:extLst>
                    <a:ext uri="{9D8B030D-6E8A-4147-A177-3AD203B41FA5}">
                      <a16:colId xmlns:a16="http://schemas.microsoft.com/office/drawing/2014/main" val="2894921235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4289590436"/>
                    </a:ext>
                  </a:extLst>
                </a:gridCol>
                <a:gridCol w="4376929">
                  <a:extLst>
                    <a:ext uri="{9D8B030D-6E8A-4147-A177-3AD203B41FA5}">
                      <a16:colId xmlns:a16="http://schemas.microsoft.com/office/drawing/2014/main" val="267362249"/>
                    </a:ext>
                  </a:extLst>
                </a:gridCol>
              </a:tblGrid>
              <a:tr h="494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Week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Python Proficiency / Application Development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 Structures &amp; Algorithms (DSA)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323140"/>
                  </a:ext>
                </a:extLst>
              </a:tr>
              <a:tr h="1130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9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</a:t>
                      </a:r>
                      <a:r>
                        <a:rPr lang="en-US" sz="1800" dirty="0"/>
                        <a:t> Appointment Completion, Invoice Generation, Payment Status, Business Logic, Validation, Transaction Handling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Greedy Algorithms, Interval Scheduling, Dynamic Programming, </a:t>
                      </a:r>
                      <a:r>
                        <a:rPr lang="en-US" sz="1800" dirty="0" err="1"/>
                        <a:t>Memoization</a:t>
                      </a:r>
                      <a:r>
                        <a:rPr lang="en-US" sz="1800" dirty="0"/>
                        <a:t>, Tabulation, Grid DP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988098"/>
                  </a:ext>
                </a:extLst>
              </a:tr>
              <a:tr h="1130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10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</a:t>
                      </a:r>
                      <a:r>
                        <a:rPr lang="en-US" sz="1800" dirty="0"/>
                        <a:t> Frontend Fundamentals, React + TypeScript, REST API Integration, Forms, Client-Side Validation, Authentication, Authorization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Dynamic Programming, Sequence DP, Grid DP, BFS with State, Shortest Paths, Topological Sorting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842450"/>
                  </a:ext>
                </a:extLst>
              </a:tr>
              <a:tr h="918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11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</a:t>
                      </a:r>
                      <a:r>
                        <a:rPr lang="en-US" sz="1800" dirty="0"/>
                        <a:t> Automated Testing, Error Handling, Logging, Configuration, Database Migrations, Security Fundamentals, Code Quality, API Documentation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Graph Algorithms, Topological Sort + DP, Disjoint Set Union (DSU), Monotonic Stack + DP, Mixed-Pattern Problems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43279"/>
                  </a:ext>
                </a:extLst>
              </a:tr>
              <a:tr h="918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12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Solution Building</a:t>
                      </a:r>
                      <a:r>
                        <a:rPr lang="en-US" sz="1800" dirty="0"/>
                        <a:t> Bug Fixing, End-to-End Testing, Deployment, README, Architecture Documentation, Setup Instructions, Project Walkthrough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Timed Coding Challenges, Mixed Problems, Pattern Revision, Weak-Area Practice, Mock Interviews, Complexity Analysis</a:t>
                      </a:r>
                    </a:p>
                  </a:txBody>
                  <a:tcPr marL="23649" marR="23649" marT="11824" marB="118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2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70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ED4B4-D402-32F3-009F-890130CC1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459101"/>
            <a:ext cx="10515600" cy="1325563"/>
          </a:xfrm>
        </p:spPr>
        <p:txBody>
          <a:bodyPr/>
          <a:lstStyle/>
          <a:p>
            <a:r>
              <a:rPr lang="en-US" dirty="0"/>
              <a:t>Week 1 Plan</a:t>
            </a:r>
          </a:p>
        </p:txBody>
      </p:sp>
    </p:spTree>
    <p:extLst>
      <p:ext uri="{BB962C8B-B14F-4D97-AF65-F5344CB8AC3E}">
        <p14:creationId xmlns:p14="http://schemas.microsoft.com/office/powerpoint/2010/main" val="42829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C291-9AFF-C583-2B57-FEDC476E2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Refresher – Week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042163-9C9C-EAB6-931F-AD3604D22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925317"/>
              </p:ext>
            </p:extLst>
          </p:nvPr>
        </p:nvGraphicFramePr>
        <p:xfrm>
          <a:off x="838200" y="1414165"/>
          <a:ext cx="10610088" cy="37333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3519">
                  <a:extLst>
                    <a:ext uri="{9D8B030D-6E8A-4147-A177-3AD203B41FA5}">
                      <a16:colId xmlns:a16="http://schemas.microsoft.com/office/drawing/2014/main" val="2701342430"/>
                    </a:ext>
                  </a:extLst>
                </a:gridCol>
                <a:gridCol w="9216569">
                  <a:extLst>
                    <a:ext uri="{9D8B030D-6E8A-4147-A177-3AD203B41FA5}">
                      <a16:colId xmlns:a16="http://schemas.microsoft.com/office/drawing/2014/main" val="3069879386"/>
                    </a:ext>
                  </a:extLst>
                </a:gridCol>
              </a:tblGrid>
              <a:tr h="46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Day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Topics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73261"/>
                  </a:ext>
                </a:extLst>
              </a:tr>
              <a:tr h="46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Python fundamentals and execution model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09968"/>
                  </a:ext>
                </a:extLst>
              </a:tr>
              <a:tr h="46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Control flow, functions, and program structure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755697"/>
                  </a:ext>
                </a:extLst>
              </a:tr>
              <a:tr h="3828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Collections and data handling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75563"/>
                  </a:ext>
                </a:extLst>
              </a:tr>
              <a:tr h="46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4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Iteration, comprehensions, and generators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64426"/>
                  </a:ext>
                </a:extLst>
              </a:tr>
              <a:tr h="46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Functions, scope, and functional programming tools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133606"/>
                  </a:ext>
                </a:extLst>
              </a:tr>
              <a:tr h="46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Modules, packages, environments, and imports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837488"/>
                  </a:ext>
                </a:extLst>
              </a:tr>
              <a:tr h="469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Python review and practical exercise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2346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16C3B46-8047-FEAE-0037-8EC25A829E3B}"/>
              </a:ext>
            </a:extLst>
          </p:cNvPr>
          <p:cNvSpPr txBox="1"/>
          <p:nvPr/>
        </p:nvSpPr>
        <p:spPr>
          <a:xfrm>
            <a:off x="838200" y="56688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The Python Tutorial — Python 3.15.0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94BB-6A8C-9B1B-6667-DE79D89D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C893-5662-284C-4081-5C931B5E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DSA – Week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63D0DF-8C9B-2670-E32C-E55BA36A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66043"/>
              </p:ext>
            </p:extLst>
          </p:nvPr>
        </p:nvGraphicFramePr>
        <p:xfrm>
          <a:off x="838200" y="1414165"/>
          <a:ext cx="10628376" cy="3892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5921">
                  <a:extLst>
                    <a:ext uri="{9D8B030D-6E8A-4147-A177-3AD203B41FA5}">
                      <a16:colId xmlns:a16="http://schemas.microsoft.com/office/drawing/2014/main" val="2701342430"/>
                    </a:ext>
                  </a:extLst>
                </a:gridCol>
                <a:gridCol w="9232455">
                  <a:extLst>
                    <a:ext uri="{9D8B030D-6E8A-4147-A177-3AD203B41FA5}">
                      <a16:colId xmlns:a16="http://schemas.microsoft.com/office/drawing/2014/main" val="3069879386"/>
                    </a:ext>
                  </a:extLst>
                </a:gridCol>
              </a:tblGrid>
              <a:tr h="492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Day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Topics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73261"/>
                  </a:ext>
                </a:extLst>
              </a:tr>
              <a:tr h="492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Complexity analysis and arrays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09968"/>
                  </a:ext>
                </a:extLst>
              </a:tr>
              <a:tr h="492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Strings and array techniques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755697"/>
                  </a:ext>
                </a:extLst>
              </a:tr>
              <a:tr h="401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Hashing: dictionaries and sets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75563"/>
                  </a:ext>
                </a:extLst>
              </a:tr>
              <a:tr h="492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4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Linked lists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64426"/>
                  </a:ext>
                </a:extLst>
              </a:tr>
              <a:tr h="492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Stacks and queues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133606"/>
                  </a:ext>
                </a:extLst>
              </a:tr>
              <a:tr h="492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6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Searching and binary search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837488"/>
                  </a:ext>
                </a:extLst>
              </a:tr>
              <a:tr h="492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7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Week 1 DSA review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23466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0F4E658-FC70-B171-77CF-D67B64F059FF}"/>
              </a:ext>
            </a:extLst>
          </p:cNvPr>
          <p:cNvSpPr txBox="1"/>
          <p:nvPr/>
        </p:nvSpPr>
        <p:spPr>
          <a:xfrm>
            <a:off x="838200" y="5306971"/>
            <a:ext cx="111076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https://www.hackerearth.com/practice/basic-programming/complexity-analysis/time-and-space-complexity/tutorial/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https://www.hackerearth.com/practice/data-structures</a:t>
            </a:r>
            <a:r>
              <a:rPr lang="en-US" dirty="0"/>
              <a:t> -&gt; Tutorial</a:t>
            </a:r>
            <a:br>
              <a:rPr lang="en-US" dirty="0"/>
            </a:br>
            <a:r>
              <a:rPr lang="en-US" dirty="0" err="1">
                <a:hlinkClick r:id="rId4"/>
              </a:rPr>
              <a:t>visualising</a:t>
            </a:r>
            <a:r>
              <a:rPr lang="en-US" dirty="0">
                <a:hlinkClick r:id="rId4"/>
              </a:rPr>
              <a:t> data structures and algorithms through animation - </a:t>
            </a:r>
            <a:r>
              <a:rPr lang="en-US" dirty="0" err="1">
                <a:hlinkClick r:id="rId4"/>
              </a:rPr>
              <a:t>VisuAlgo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9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D7BEC-7C3A-A4CC-509C-D4DF9E6F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B50A-9B2D-5502-3F99-93D805D0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459101"/>
            <a:ext cx="10515600" cy="1325563"/>
          </a:xfrm>
        </p:spPr>
        <p:txBody>
          <a:bodyPr/>
          <a:lstStyle/>
          <a:p>
            <a:r>
              <a:rPr lang="en-US" dirty="0"/>
              <a:t>Week 2 Plan</a:t>
            </a:r>
          </a:p>
        </p:txBody>
      </p:sp>
    </p:spTree>
    <p:extLst>
      <p:ext uri="{BB962C8B-B14F-4D97-AF65-F5344CB8AC3E}">
        <p14:creationId xmlns:p14="http://schemas.microsoft.com/office/powerpoint/2010/main" val="31553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9E69-6547-345A-71AC-56D2B14C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E08B-683D-38E9-9A10-08468623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Refresher – Week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B3B4F4-47F7-E475-A110-405B1309D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85356"/>
              </p:ext>
            </p:extLst>
          </p:nvPr>
        </p:nvGraphicFramePr>
        <p:xfrm>
          <a:off x="838200" y="1414165"/>
          <a:ext cx="10515600" cy="3613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1109">
                  <a:extLst>
                    <a:ext uri="{9D8B030D-6E8A-4147-A177-3AD203B41FA5}">
                      <a16:colId xmlns:a16="http://schemas.microsoft.com/office/drawing/2014/main" val="2701342430"/>
                    </a:ext>
                  </a:extLst>
                </a:gridCol>
                <a:gridCol w="9134491">
                  <a:extLst>
                    <a:ext uri="{9D8B030D-6E8A-4147-A177-3AD203B41FA5}">
                      <a16:colId xmlns:a16="http://schemas.microsoft.com/office/drawing/2014/main" val="3069879386"/>
                    </a:ext>
                  </a:extLst>
                </a:gridCol>
              </a:tblGrid>
              <a:tr h="45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Day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Topics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73261"/>
                  </a:ext>
                </a:extLst>
              </a:tr>
              <a:tr h="45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8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Object-oriented programming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09968"/>
                  </a:ext>
                </a:extLst>
              </a:tr>
              <a:tr h="45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9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Exceptions, validation, and debugging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755697"/>
                  </a:ext>
                </a:extLst>
              </a:tr>
              <a:tr h="368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10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Files, paths, JSON, and serialization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75563"/>
                  </a:ext>
                </a:extLst>
              </a:tr>
              <a:tr h="45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11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Type hints, </a:t>
                      </a:r>
                      <a:r>
                        <a:rPr lang="en-US" sz="1800" dirty="0" err="1"/>
                        <a:t>dataclasses</a:t>
                      </a:r>
                      <a:r>
                        <a:rPr lang="en-US" sz="1800" dirty="0"/>
                        <a:t>, and code organization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64426"/>
                  </a:ext>
                </a:extLst>
              </a:tr>
              <a:tr h="45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12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Testing, logging, and debugging tools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133606"/>
                  </a:ext>
                </a:extLst>
              </a:tr>
              <a:tr h="45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13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Iterators, generators, decorators, and context managers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837488"/>
                  </a:ext>
                </a:extLst>
              </a:tr>
              <a:tr h="45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14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Integrated Python mini-program and proficiency assessment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234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033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7387-00F4-AEDA-E38E-BDCA5964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FC74-51CD-258C-8369-0FFB280F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DSA– Week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238642-855E-9066-E53A-67EA77A55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524785"/>
              </p:ext>
            </p:extLst>
          </p:nvPr>
        </p:nvGraphicFramePr>
        <p:xfrm>
          <a:off x="838200" y="1414165"/>
          <a:ext cx="10515600" cy="3470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1109">
                  <a:extLst>
                    <a:ext uri="{9D8B030D-6E8A-4147-A177-3AD203B41FA5}">
                      <a16:colId xmlns:a16="http://schemas.microsoft.com/office/drawing/2014/main" val="2701342430"/>
                    </a:ext>
                  </a:extLst>
                </a:gridCol>
                <a:gridCol w="9134491">
                  <a:extLst>
                    <a:ext uri="{9D8B030D-6E8A-4147-A177-3AD203B41FA5}">
                      <a16:colId xmlns:a16="http://schemas.microsoft.com/office/drawing/2014/main" val="3069879386"/>
                    </a:ext>
                  </a:extLst>
                </a:gridCol>
              </a:tblGrid>
              <a:tr h="430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Day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Topics</a:t>
                      </a:r>
                    </a:p>
                  </a:txBody>
                  <a:tcPr marL="45326" marR="45326" marT="22663" marB="22663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73261"/>
                  </a:ext>
                </a:extLst>
              </a:tr>
              <a:tr h="430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8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Sorting algorithms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09968"/>
                  </a:ext>
                </a:extLst>
              </a:tr>
              <a:tr h="430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9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Recursion and divide and conquer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755697"/>
                  </a:ext>
                </a:extLst>
              </a:tr>
              <a:tr h="351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10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Trees and tree traversal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75563"/>
                  </a:ext>
                </a:extLst>
              </a:tr>
              <a:tr h="430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11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Heaps and priority queues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64426"/>
                  </a:ext>
                </a:extLst>
              </a:tr>
              <a:tr h="430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12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Graph representations, BFS, and DFS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133606"/>
                  </a:ext>
                </a:extLst>
              </a:tr>
              <a:tr h="430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13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Greedy introduction and algorithm trade-offs</a:t>
                      </a:r>
                    </a:p>
                  </a:txBody>
                  <a:tcPr marL="45326" marR="45326" marT="22663" marB="2266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837488"/>
                  </a:ext>
                </a:extLst>
              </a:tr>
              <a:tr h="430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14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DSA review and practical assessment</a:t>
                      </a:r>
                    </a:p>
                  </a:txBody>
                  <a:tcPr marL="45326" marR="45326" marT="22663" marB="2266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234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7C7E64-01B4-DF36-1EF6-A4E704572BB5}"/>
              </a:ext>
            </a:extLst>
          </p:cNvPr>
          <p:cNvSpPr txBox="1"/>
          <p:nvPr/>
        </p:nvSpPr>
        <p:spPr>
          <a:xfrm>
            <a:off x="971550" y="5432681"/>
            <a:ext cx="11107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https://www.hackerearth.com/practice/data-structures</a:t>
            </a:r>
            <a:r>
              <a:rPr lang="en-US" dirty="0"/>
              <a:t> -&gt; Tutorial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45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3C25-4277-B1CA-F043-788CA79C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B433-CB3D-8C0F-0817-071C7166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70FF6-EBED-7C73-B73D-C6D0F7812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Telegram/Teams/</a:t>
            </a:r>
            <a:r>
              <a:rPr lang="en-US" dirty="0" err="1"/>
              <a:t>Whatsapp</a:t>
            </a:r>
            <a:endParaRPr lang="en-US" dirty="0"/>
          </a:p>
          <a:p>
            <a:r>
              <a:rPr lang="en-US" dirty="0"/>
              <a:t>Shared Git Repo </a:t>
            </a:r>
          </a:p>
          <a:p>
            <a:pPr lvl="1"/>
            <a:r>
              <a:rPr lang="en-US" dirty="0"/>
              <a:t>Documents</a:t>
            </a:r>
          </a:p>
          <a:p>
            <a:pPr lvl="1"/>
            <a:r>
              <a:rPr lang="en-US" dirty="0"/>
              <a:t>Submitted code</a:t>
            </a:r>
          </a:p>
          <a:p>
            <a:pPr lvl="1"/>
            <a:r>
              <a:rPr lang="en-US" dirty="0"/>
              <a:t>Solution Project Version Control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4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23C4-69F9-24CB-F8DC-A6DA826F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Plan &amp; Table of contents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3C41480-1173-2C73-5504-B6B5DAEC6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560763"/>
              </p:ext>
            </p:extLst>
          </p:nvPr>
        </p:nvGraphicFramePr>
        <p:xfrm>
          <a:off x="3444992" y="2524414"/>
          <a:ext cx="1879429" cy="1585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400" imgH="771525" progId="Word.Document.12">
                  <p:embed/>
                </p:oleObj>
              </mc:Choice>
              <mc:Fallback>
                <p:oleObj name="Document" showAsIcon="1" r:id="rId2" imgW="914400" imgH="771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44992" y="2524414"/>
                        <a:ext cx="1879429" cy="1585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D47C5F0-65C9-D2BE-2366-06464DBD9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535605"/>
              </p:ext>
            </p:extLst>
          </p:nvPr>
        </p:nvGraphicFramePr>
        <p:xfrm>
          <a:off x="3444992" y="5126038"/>
          <a:ext cx="1574800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4" imgW="914400" imgH="771525" progId="Word.Document.12">
                  <p:embed/>
                </p:oleObj>
              </mc:Choice>
              <mc:Fallback>
                <p:oleObj name="Document" showAsIcon="1" r:id="rId4" imgW="914400" imgH="771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44992" y="5126038"/>
                        <a:ext cx="1574800" cy="1328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A9DF34E-94CB-498A-F8E7-0B8ECFAD0C45}"/>
              </a:ext>
            </a:extLst>
          </p:cNvPr>
          <p:cNvSpPr txBox="1"/>
          <p:nvPr/>
        </p:nvSpPr>
        <p:spPr>
          <a:xfrm>
            <a:off x="1819564" y="1884218"/>
            <a:ext cx="341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Concepts and Hands-on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CB0404-9139-5253-5DD3-B8E30CFFCBA2}"/>
              </a:ext>
            </a:extLst>
          </p:cNvPr>
          <p:cNvSpPr txBox="1"/>
          <p:nvPr/>
        </p:nvSpPr>
        <p:spPr>
          <a:xfrm>
            <a:off x="1736265" y="4381046"/>
            <a:ext cx="341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Structure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16524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905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Microsoft Word Document</vt:lpstr>
      <vt:lpstr>Python + DSA</vt:lpstr>
      <vt:lpstr>Mode of Learning</vt:lpstr>
      <vt:lpstr>12 Weeks Plan</vt:lpstr>
      <vt:lpstr>Overall Plan</vt:lpstr>
      <vt:lpstr>Overall Plan</vt:lpstr>
      <vt:lpstr>Overall Plan</vt:lpstr>
      <vt:lpstr>Week 1 Plan</vt:lpstr>
      <vt:lpstr>Python Refresher – Week 1</vt:lpstr>
      <vt:lpstr>DSA – Week 1</vt:lpstr>
      <vt:lpstr>Week 2 Plan</vt:lpstr>
      <vt:lpstr>Python Refresher – Week 2</vt:lpstr>
      <vt:lpstr>DSA– Week 2</vt:lpstr>
      <vt:lpstr>Communication Setup</vt:lpstr>
      <vt:lpstr>Daily Plan &amp; Table of 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MRajagopal</dc:creator>
  <cp:lastModifiedBy>MRajagopal</cp:lastModifiedBy>
  <cp:revision>5</cp:revision>
  <dcterms:created xsi:type="dcterms:W3CDTF">2026-10-10T11:33:12Z</dcterms:created>
  <dcterms:modified xsi:type="dcterms:W3CDTF">2026-10-11T05:11:02Z</dcterms:modified>
</cp:coreProperties>
</file>